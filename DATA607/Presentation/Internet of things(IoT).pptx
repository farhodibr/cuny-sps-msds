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82" d="100"/>
          <a:sy n="82" d="100"/>
        </p:scale>
        <p:origin x="672" y="2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F1C2A5-CE7E-48D1-43C1-453BB71753D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7F4BDA1-C537-FB10-8E74-BC570AEEAD6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5E4BB7D-DE59-0EBB-B815-E02F4665FCF9}"/>
              </a:ext>
            </a:extLst>
          </p:cNvPr>
          <p:cNvSpPr>
            <a:spLocks noGrp="1"/>
          </p:cNvSpPr>
          <p:nvPr>
            <p:ph type="dt" sz="half" idx="10"/>
          </p:nvPr>
        </p:nvSpPr>
        <p:spPr/>
        <p:txBody>
          <a:bodyPr/>
          <a:lstStyle/>
          <a:p>
            <a:fld id="{7DEA78AB-9BA7-400F-A8DC-B05134541861}" type="datetimeFigureOut">
              <a:rPr lang="en-US" smtClean="0"/>
              <a:t>4/27/2025</a:t>
            </a:fld>
            <a:endParaRPr lang="en-US"/>
          </a:p>
        </p:txBody>
      </p:sp>
      <p:sp>
        <p:nvSpPr>
          <p:cNvPr id="5" name="Footer Placeholder 4">
            <a:extLst>
              <a:ext uri="{FF2B5EF4-FFF2-40B4-BE49-F238E27FC236}">
                <a16:creationId xmlns:a16="http://schemas.microsoft.com/office/drawing/2014/main" id="{2E902755-FD93-ACCA-2468-F756F1F0EB2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95214E6-BF94-D220-470E-8D491F0CFFBB}"/>
              </a:ext>
            </a:extLst>
          </p:cNvPr>
          <p:cNvSpPr>
            <a:spLocks noGrp="1"/>
          </p:cNvSpPr>
          <p:nvPr>
            <p:ph type="sldNum" sz="quarter" idx="12"/>
          </p:nvPr>
        </p:nvSpPr>
        <p:spPr/>
        <p:txBody>
          <a:bodyPr/>
          <a:lstStyle/>
          <a:p>
            <a:fld id="{1F95CC91-641A-44B0-B7D9-ECB3B0356D72}" type="slidenum">
              <a:rPr lang="en-US" smtClean="0"/>
              <a:t>‹#›</a:t>
            </a:fld>
            <a:endParaRPr lang="en-US"/>
          </a:p>
        </p:txBody>
      </p:sp>
    </p:spTree>
    <p:extLst>
      <p:ext uri="{BB962C8B-B14F-4D97-AF65-F5344CB8AC3E}">
        <p14:creationId xmlns:p14="http://schemas.microsoft.com/office/powerpoint/2010/main" val="31250640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D11BF0-12B7-36FD-0ABA-1C032822A02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C97A9E6-37D1-CA94-1984-780D2A83516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6CBDA1D-1A60-A406-EC9B-BED4F914ED42}"/>
              </a:ext>
            </a:extLst>
          </p:cNvPr>
          <p:cNvSpPr>
            <a:spLocks noGrp="1"/>
          </p:cNvSpPr>
          <p:nvPr>
            <p:ph type="dt" sz="half" idx="10"/>
          </p:nvPr>
        </p:nvSpPr>
        <p:spPr/>
        <p:txBody>
          <a:bodyPr/>
          <a:lstStyle/>
          <a:p>
            <a:fld id="{7DEA78AB-9BA7-400F-A8DC-B05134541861}" type="datetimeFigureOut">
              <a:rPr lang="en-US" smtClean="0"/>
              <a:t>4/27/2025</a:t>
            </a:fld>
            <a:endParaRPr lang="en-US"/>
          </a:p>
        </p:txBody>
      </p:sp>
      <p:sp>
        <p:nvSpPr>
          <p:cNvPr id="5" name="Footer Placeholder 4">
            <a:extLst>
              <a:ext uri="{FF2B5EF4-FFF2-40B4-BE49-F238E27FC236}">
                <a16:creationId xmlns:a16="http://schemas.microsoft.com/office/drawing/2014/main" id="{40115489-B4AD-F965-D308-333E4E87E7D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DCDF8E7-B3C8-CA54-8960-5D4DC99E13B0}"/>
              </a:ext>
            </a:extLst>
          </p:cNvPr>
          <p:cNvSpPr>
            <a:spLocks noGrp="1"/>
          </p:cNvSpPr>
          <p:nvPr>
            <p:ph type="sldNum" sz="quarter" idx="12"/>
          </p:nvPr>
        </p:nvSpPr>
        <p:spPr/>
        <p:txBody>
          <a:bodyPr/>
          <a:lstStyle/>
          <a:p>
            <a:fld id="{1F95CC91-641A-44B0-B7D9-ECB3B0356D72}" type="slidenum">
              <a:rPr lang="en-US" smtClean="0"/>
              <a:t>‹#›</a:t>
            </a:fld>
            <a:endParaRPr lang="en-US"/>
          </a:p>
        </p:txBody>
      </p:sp>
    </p:spTree>
    <p:extLst>
      <p:ext uri="{BB962C8B-B14F-4D97-AF65-F5344CB8AC3E}">
        <p14:creationId xmlns:p14="http://schemas.microsoft.com/office/powerpoint/2010/main" val="20976046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2E96DE-3447-2C09-AC2F-3F2630DD8C2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0083404-9CD9-1D17-97E8-E87AD39E28B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5AAFB62-9046-F134-DAE9-EC571BEF221B}"/>
              </a:ext>
            </a:extLst>
          </p:cNvPr>
          <p:cNvSpPr>
            <a:spLocks noGrp="1"/>
          </p:cNvSpPr>
          <p:nvPr>
            <p:ph type="dt" sz="half" idx="10"/>
          </p:nvPr>
        </p:nvSpPr>
        <p:spPr/>
        <p:txBody>
          <a:bodyPr/>
          <a:lstStyle/>
          <a:p>
            <a:fld id="{7DEA78AB-9BA7-400F-A8DC-B05134541861}" type="datetimeFigureOut">
              <a:rPr lang="en-US" smtClean="0"/>
              <a:t>4/27/2025</a:t>
            </a:fld>
            <a:endParaRPr lang="en-US"/>
          </a:p>
        </p:txBody>
      </p:sp>
      <p:sp>
        <p:nvSpPr>
          <p:cNvPr id="5" name="Footer Placeholder 4">
            <a:extLst>
              <a:ext uri="{FF2B5EF4-FFF2-40B4-BE49-F238E27FC236}">
                <a16:creationId xmlns:a16="http://schemas.microsoft.com/office/drawing/2014/main" id="{7A677561-61FC-B5C5-E57E-B27BA1B1159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A096271-8FE3-F1F0-01EA-F4E740060BD1}"/>
              </a:ext>
            </a:extLst>
          </p:cNvPr>
          <p:cNvSpPr>
            <a:spLocks noGrp="1"/>
          </p:cNvSpPr>
          <p:nvPr>
            <p:ph type="sldNum" sz="quarter" idx="12"/>
          </p:nvPr>
        </p:nvSpPr>
        <p:spPr/>
        <p:txBody>
          <a:bodyPr/>
          <a:lstStyle/>
          <a:p>
            <a:fld id="{1F95CC91-641A-44B0-B7D9-ECB3B0356D72}" type="slidenum">
              <a:rPr lang="en-US" smtClean="0"/>
              <a:t>‹#›</a:t>
            </a:fld>
            <a:endParaRPr lang="en-US"/>
          </a:p>
        </p:txBody>
      </p:sp>
    </p:spTree>
    <p:extLst>
      <p:ext uri="{BB962C8B-B14F-4D97-AF65-F5344CB8AC3E}">
        <p14:creationId xmlns:p14="http://schemas.microsoft.com/office/powerpoint/2010/main" val="21411067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26457C-73C3-482F-47B1-32B1BEB9AF7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EC70C86-E957-9175-20FA-9F0B7F1F0D7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BA1FEBB-51B0-1A8C-3B13-4B7245B4EF3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AAACD17-2213-A01D-B67B-76FDD11CAEE8}"/>
              </a:ext>
            </a:extLst>
          </p:cNvPr>
          <p:cNvSpPr>
            <a:spLocks noGrp="1"/>
          </p:cNvSpPr>
          <p:nvPr>
            <p:ph type="dt" sz="half" idx="10"/>
          </p:nvPr>
        </p:nvSpPr>
        <p:spPr/>
        <p:txBody>
          <a:bodyPr/>
          <a:lstStyle/>
          <a:p>
            <a:fld id="{7DEA78AB-9BA7-400F-A8DC-B05134541861}" type="datetimeFigureOut">
              <a:rPr lang="en-US" smtClean="0"/>
              <a:t>4/27/2025</a:t>
            </a:fld>
            <a:endParaRPr lang="en-US"/>
          </a:p>
        </p:txBody>
      </p:sp>
      <p:sp>
        <p:nvSpPr>
          <p:cNvPr id="6" name="Footer Placeholder 5">
            <a:extLst>
              <a:ext uri="{FF2B5EF4-FFF2-40B4-BE49-F238E27FC236}">
                <a16:creationId xmlns:a16="http://schemas.microsoft.com/office/drawing/2014/main" id="{5D429F12-7BE6-ADB5-1456-112F359F793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6573447-E361-2A5B-B1CF-7C294D05B683}"/>
              </a:ext>
            </a:extLst>
          </p:cNvPr>
          <p:cNvSpPr>
            <a:spLocks noGrp="1"/>
          </p:cNvSpPr>
          <p:nvPr>
            <p:ph type="sldNum" sz="quarter" idx="12"/>
          </p:nvPr>
        </p:nvSpPr>
        <p:spPr/>
        <p:txBody>
          <a:bodyPr/>
          <a:lstStyle/>
          <a:p>
            <a:fld id="{1F95CC91-641A-44B0-B7D9-ECB3B0356D72}" type="slidenum">
              <a:rPr lang="en-US" smtClean="0"/>
              <a:t>‹#›</a:t>
            </a:fld>
            <a:endParaRPr lang="en-US"/>
          </a:p>
        </p:txBody>
      </p:sp>
    </p:spTree>
    <p:extLst>
      <p:ext uri="{BB962C8B-B14F-4D97-AF65-F5344CB8AC3E}">
        <p14:creationId xmlns:p14="http://schemas.microsoft.com/office/powerpoint/2010/main" val="35018704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1D3DB4-DC1B-8367-1871-DCF16BA2DA4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BF8415A-D529-A542-3897-D9463704A3B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3A7CD68-A4B2-3F00-8C48-7077E82D59A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C365E75-E67D-3F9C-9652-5037C219A0D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BC5B966-7C38-FA4D-2F9E-AC01F08DE9F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6E99A14-EA3A-9124-C1A9-A5A962266D30}"/>
              </a:ext>
            </a:extLst>
          </p:cNvPr>
          <p:cNvSpPr>
            <a:spLocks noGrp="1"/>
          </p:cNvSpPr>
          <p:nvPr>
            <p:ph type="dt" sz="half" idx="10"/>
          </p:nvPr>
        </p:nvSpPr>
        <p:spPr/>
        <p:txBody>
          <a:bodyPr/>
          <a:lstStyle/>
          <a:p>
            <a:fld id="{7DEA78AB-9BA7-400F-A8DC-B05134541861}" type="datetimeFigureOut">
              <a:rPr lang="en-US" smtClean="0"/>
              <a:t>4/27/2025</a:t>
            </a:fld>
            <a:endParaRPr lang="en-US"/>
          </a:p>
        </p:txBody>
      </p:sp>
      <p:sp>
        <p:nvSpPr>
          <p:cNvPr id="8" name="Footer Placeholder 7">
            <a:extLst>
              <a:ext uri="{FF2B5EF4-FFF2-40B4-BE49-F238E27FC236}">
                <a16:creationId xmlns:a16="http://schemas.microsoft.com/office/drawing/2014/main" id="{2EEB0414-7D08-C023-A3B2-83D4F5564D4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A88B159-9D92-F663-658D-44509F4E9DCC}"/>
              </a:ext>
            </a:extLst>
          </p:cNvPr>
          <p:cNvSpPr>
            <a:spLocks noGrp="1"/>
          </p:cNvSpPr>
          <p:nvPr>
            <p:ph type="sldNum" sz="quarter" idx="12"/>
          </p:nvPr>
        </p:nvSpPr>
        <p:spPr/>
        <p:txBody>
          <a:bodyPr/>
          <a:lstStyle/>
          <a:p>
            <a:fld id="{1F95CC91-641A-44B0-B7D9-ECB3B0356D72}" type="slidenum">
              <a:rPr lang="en-US" smtClean="0"/>
              <a:t>‹#›</a:t>
            </a:fld>
            <a:endParaRPr lang="en-US"/>
          </a:p>
        </p:txBody>
      </p:sp>
    </p:spTree>
    <p:extLst>
      <p:ext uri="{BB962C8B-B14F-4D97-AF65-F5344CB8AC3E}">
        <p14:creationId xmlns:p14="http://schemas.microsoft.com/office/powerpoint/2010/main" val="33628892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829937-2205-7527-018D-C34E4C48A7A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150E045-9753-3F88-A41E-C6DFDD8FC70D}"/>
              </a:ext>
            </a:extLst>
          </p:cNvPr>
          <p:cNvSpPr>
            <a:spLocks noGrp="1"/>
          </p:cNvSpPr>
          <p:nvPr>
            <p:ph type="dt" sz="half" idx="10"/>
          </p:nvPr>
        </p:nvSpPr>
        <p:spPr/>
        <p:txBody>
          <a:bodyPr/>
          <a:lstStyle/>
          <a:p>
            <a:fld id="{7DEA78AB-9BA7-400F-A8DC-B05134541861}" type="datetimeFigureOut">
              <a:rPr lang="en-US" smtClean="0"/>
              <a:t>4/27/2025</a:t>
            </a:fld>
            <a:endParaRPr lang="en-US"/>
          </a:p>
        </p:txBody>
      </p:sp>
      <p:sp>
        <p:nvSpPr>
          <p:cNvPr id="4" name="Footer Placeholder 3">
            <a:extLst>
              <a:ext uri="{FF2B5EF4-FFF2-40B4-BE49-F238E27FC236}">
                <a16:creationId xmlns:a16="http://schemas.microsoft.com/office/drawing/2014/main" id="{EDB40D2D-5269-BA2F-3818-974CB5A8B8D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5A4C0FF-D920-73BE-AF32-65DF5EB501DC}"/>
              </a:ext>
            </a:extLst>
          </p:cNvPr>
          <p:cNvSpPr>
            <a:spLocks noGrp="1"/>
          </p:cNvSpPr>
          <p:nvPr>
            <p:ph type="sldNum" sz="quarter" idx="12"/>
          </p:nvPr>
        </p:nvSpPr>
        <p:spPr/>
        <p:txBody>
          <a:bodyPr/>
          <a:lstStyle/>
          <a:p>
            <a:fld id="{1F95CC91-641A-44B0-B7D9-ECB3B0356D72}" type="slidenum">
              <a:rPr lang="en-US" smtClean="0"/>
              <a:t>‹#›</a:t>
            </a:fld>
            <a:endParaRPr lang="en-US"/>
          </a:p>
        </p:txBody>
      </p:sp>
    </p:spTree>
    <p:extLst>
      <p:ext uri="{BB962C8B-B14F-4D97-AF65-F5344CB8AC3E}">
        <p14:creationId xmlns:p14="http://schemas.microsoft.com/office/powerpoint/2010/main" val="41955722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566FE4D-FED4-F74B-8F4A-601AD7A5CBF0}"/>
              </a:ext>
            </a:extLst>
          </p:cNvPr>
          <p:cNvSpPr>
            <a:spLocks noGrp="1"/>
          </p:cNvSpPr>
          <p:nvPr>
            <p:ph type="dt" sz="half" idx="10"/>
          </p:nvPr>
        </p:nvSpPr>
        <p:spPr/>
        <p:txBody>
          <a:bodyPr/>
          <a:lstStyle/>
          <a:p>
            <a:fld id="{7DEA78AB-9BA7-400F-A8DC-B05134541861}" type="datetimeFigureOut">
              <a:rPr lang="en-US" smtClean="0"/>
              <a:t>4/27/2025</a:t>
            </a:fld>
            <a:endParaRPr lang="en-US"/>
          </a:p>
        </p:txBody>
      </p:sp>
      <p:sp>
        <p:nvSpPr>
          <p:cNvPr id="3" name="Footer Placeholder 2">
            <a:extLst>
              <a:ext uri="{FF2B5EF4-FFF2-40B4-BE49-F238E27FC236}">
                <a16:creationId xmlns:a16="http://schemas.microsoft.com/office/drawing/2014/main" id="{CF6C5638-1AE9-6B18-39E9-74F15112C7B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310A7CA-9374-66EF-E245-C82D299D7B39}"/>
              </a:ext>
            </a:extLst>
          </p:cNvPr>
          <p:cNvSpPr>
            <a:spLocks noGrp="1"/>
          </p:cNvSpPr>
          <p:nvPr>
            <p:ph type="sldNum" sz="quarter" idx="12"/>
          </p:nvPr>
        </p:nvSpPr>
        <p:spPr/>
        <p:txBody>
          <a:bodyPr/>
          <a:lstStyle/>
          <a:p>
            <a:fld id="{1F95CC91-641A-44B0-B7D9-ECB3B0356D72}" type="slidenum">
              <a:rPr lang="en-US" smtClean="0"/>
              <a:t>‹#›</a:t>
            </a:fld>
            <a:endParaRPr lang="en-US"/>
          </a:p>
        </p:txBody>
      </p:sp>
    </p:spTree>
    <p:extLst>
      <p:ext uri="{BB962C8B-B14F-4D97-AF65-F5344CB8AC3E}">
        <p14:creationId xmlns:p14="http://schemas.microsoft.com/office/powerpoint/2010/main" val="11885337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D8AD81-DE72-9509-A1B8-9F009C2282F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227D7B4-DAE6-FE03-554B-93033D6CAEF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CFC1F1A-E214-EA06-F407-F5CAB464F9A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4CA1EC8-9BC9-5380-EF66-AC17B7A898B5}"/>
              </a:ext>
            </a:extLst>
          </p:cNvPr>
          <p:cNvSpPr>
            <a:spLocks noGrp="1"/>
          </p:cNvSpPr>
          <p:nvPr>
            <p:ph type="dt" sz="half" idx="10"/>
          </p:nvPr>
        </p:nvSpPr>
        <p:spPr/>
        <p:txBody>
          <a:bodyPr/>
          <a:lstStyle/>
          <a:p>
            <a:fld id="{7DEA78AB-9BA7-400F-A8DC-B05134541861}" type="datetimeFigureOut">
              <a:rPr lang="en-US" smtClean="0"/>
              <a:t>4/27/2025</a:t>
            </a:fld>
            <a:endParaRPr lang="en-US"/>
          </a:p>
        </p:txBody>
      </p:sp>
      <p:sp>
        <p:nvSpPr>
          <p:cNvPr id="6" name="Footer Placeholder 5">
            <a:extLst>
              <a:ext uri="{FF2B5EF4-FFF2-40B4-BE49-F238E27FC236}">
                <a16:creationId xmlns:a16="http://schemas.microsoft.com/office/drawing/2014/main" id="{F486266C-7CF2-28DB-3D57-EAECF58A5EC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4066550-CA69-385B-3281-78882B8F2147}"/>
              </a:ext>
            </a:extLst>
          </p:cNvPr>
          <p:cNvSpPr>
            <a:spLocks noGrp="1"/>
          </p:cNvSpPr>
          <p:nvPr>
            <p:ph type="sldNum" sz="quarter" idx="12"/>
          </p:nvPr>
        </p:nvSpPr>
        <p:spPr/>
        <p:txBody>
          <a:bodyPr/>
          <a:lstStyle/>
          <a:p>
            <a:fld id="{1F95CC91-641A-44B0-B7D9-ECB3B0356D72}" type="slidenum">
              <a:rPr lang="en-US" smtClean="0"/>
              <a:t>‹#›</a:t>
            </a:fld>
            <a:endParaRPr lang="en-US"/>
          </a:p>
        </p:txBody>
      </p:sp>
    </p:spTree>
    <p:extLst>
      <p:ext uri="{BB962C8B-B14F-4D97-AF65-F5344CB8AC3E}">
        <p14:creationId xmlns:p14="http://schemas.microsoft.com/office/powerpoint/2010/main" val="10778406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7BE1F0-3DBF-8E8C-5896-57927DA1240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9E0EB9C-30C9-CB28-42F6-1584FC9C060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750C9B1-57C0-E6D7-E636-1B9D61949C8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9AAF0E1-3078-0E8B-292D-F87321DA69DE}"/>
              </a:ext>
            </a:extLst>
          </p:cNvPr>
          <p:cNvSpPr>
            <a:spLocks noGrp="1"/>
          </p:cNvSpPr>
          <p:nvPr>
            <p:ph type="dt" sz="half" idx="10"/>
          </p:nvPr>
        </p:nvSpPr>
        <p:spPr/>
        <p:txBody>
          <a:bodyPr/>
          <a:lstStyle/>
          <a:p>
            <a:fld id="{7DEA78AB-9BA7-400F-A8DC-B05134541861}" type="datetimeFigureOut">
              <a:rPr lang="en-US" smtClean="0"/>
              <a:t>4/27/2025</a:t>
            </a:fld>
            <a:endParaRPr lang="en-US"/>
          </a:p>
        </p:txBody>
      </p:sp>
      <p:sp>
        <p:nvSpPr>
          <p:cNvPr id="6" name="Footer Placeholder 5">
            <a:extLst>
              <a:ext uri="{FF2B5EF4-FFF2-40B4-BE49-F238E27FC236}">
                <a16:creationId xmlns:a16="http://schemas.microsoft.com/office/drawing/2014/main" id="{38EE23A7-9A02-D3BC-197A-23606106FEC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860162-83BB-A52B-D44E-46E640253D06}"/>
              </a:ext>
            </a:extLst>
          </p:cNvPr>
          <p:cNvSpPr>
            <a:spLocks noGrp="1"/>
          </p:cNvSpPr>
          <p:nvPr>
            <p:ph type="sldNum" sz="quarter" idx="12"/>
          </p:nvPr>
        </p:nvSpPr>
        <p:spPr/>
        <p:txBody>
          <a:bodyPr/>
          <a:lstStyle/>
          <a:p>
            <a:fld id="{1F95CC91-641A-44B0-B7D9-ECB3B0356D72}" type="slidenum">
              <a:rPr lang="en-US" smtClean="0"/>
              <a:t>‹#›</a:t>
            </a:fld>
            <a:endParaRPr lang="en-US"/>
          </a:p>
        </p:txBody>
      </p:sp>
    </p:spTree>
    <p:extLst>
      <p:ext uri="{BB962C8B-B14F-4D97-AF65-F5344CB8AC3E}">
        <p14:creationId xmlns:p14="http://schemas.microsoft.com/office/powerpoint/2010/main" val="40477254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1C1354-A7D0-BF67-44BF-346403FA030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6CE022D-9C51-884D-9D65-10E741FBA10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620DDA3-EA32-D283-EB78-446771947E1E}"/>
              </a:ext>
            </a:extLst>
          </p:cNvPr>
          <p:cNvSpPr>
            <a:spLocks noGrp="1"/>
          </p:cNvSpPr>
          <p:nvPr>
            <p:ph type="dt" sz="half" idx="10"/>
          </p:nvPr>
        </p:nvSpPr>
        <p:spPr/>
        <p:txBody>
          <a:bodyPr/>
          <a:lstStyle/>
          <a:p>
            <a:fld id="{7DEA78AB-9BA7-400F-A8DC-B05134541861}" type="datetimeFigureOut">
              <a:rPr lang="en-US" smtClean="0"/>
              <a:t>4/27/2025</a:t>
            </a:fld>
            <a:endParaRPr lang="en-US"/>
          </a:p>
        </p:txBody>
      </p:sp>
      <p:sp>
        <p:nvSpPr>
          <p:cNvPr id="5" name="Footer Placeholder 4">
            <a:extLst>
              <a:ext uri="{FF2B5EF4-FFF2-40B4-BE49-F238E27FC236}">
                <a16:creationId xmlns:a16="http://schemas.microsoft.com/office/drawing/2014/main" id="{D4BF3F3D-539C-37BF-16D0-D4906AF4B23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9346D6F-5B2E-A058-E21D-0F69210E8CA1}"/>
              </a:ext>
            </a:extLst>
          </p:cNvPr>
          <p:cNvSpPr>
            <a:spLocks noGrp="1"/>
          </p:cNvSpPr>
          <p:nvPr>
            <p:ph type="sldNum" sz="quarter" idx="12"/>
          </p:nvPr>
        </p:nvSpPr>
        <p:spPr/>
        <p:txBody>
          <a:bodyPr/>
          <a:lstStyle/>
          <a:p>
            <a:fld id="{1F95CC91-641A-44B0-B7D9-ECB3B0356D72}" type="slidenum">
              <a:rPr lang="en-US" smtClean="0"/>
              <a:t>‹#›</a:t>
            </a:fld>
            <a:endParaRPr lang="en-US"/>
          </a:p>
        </p:txBody>
      </p:sp>
    </p:spTree>
    <p:extLst>
      <p:ext uri="{BB962C8B-B14F-4D97-AF65-F5344CB8AC3E}">
        <p14:creationId xmlns:p14="http://schemas.microsoft.com/office/powerpoint/2010/main" val="21731668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6F404D8-3E01-364C-35E9-CA31A393666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EAC248F-FBAD-C2EF-8E55-4429107B056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3B3E43A-2B6F-BF2F-FEB3-206C294D7B02}"/>
              </a:ext>
            </a:extLst>
          </p:cNvPr>
          <p:cNvSpPr>
            <a:spLocks noGrp="1"/>
          </p:cNvSpPr>
          <p:nvPr>
            <p:ph type="dt" sz="half" idx="10"/>
          </p:nvPr>
        </p:nvSpPr>
        <p:spPr/>
        <p:txBody>
          <a:bodyPr/>
          <a:lstStyle/>
          <a:p>
            <a:fld id="{7DEA78AB-9BA7-400F-A8DC-B05134541861}" type="datetimeFigureOut">
              <a:rPr lang="en-US" smtClean="0"/>
              <a:t>4/27/2025</a:t>
            </a:fld>
            <a:endParaRPr lang="en-US"/>
          </a:p>
        </p:txBody>
      </p:sp>
      <p:sp>
        <p:nvSpPr>
          <p:cNvPr id="5" name="Footer Placeholder 4">
            <a:extLst>
              <a:ext uri="{FF2B5EF4-FFF2-40B4-BE49-F238E27FC236}">
                <a16:creationId xmlns:a16="http://schemas.microsoft.com/office/drawing/2014/main" id="{D7301A90-0838-FA35-0C18-33BAC7ADB3D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EF474D8-D95B-8512-68A7-08A7FA595DA5}"/>
              </a:ext>
            </a:extLst>
          </p:cNvPr>
          <p:cNvSpPr>
            <a:spLocks noGrp="1"/>
          </p:cNvSpPr>
          <p:nvPr>
            <p:ph type="sldNum" sz="quarter" idx="12"/>
          </p:nvPr>
        </p:nvSpPr>
        <p:spPr/>
        <p:txBody>
          <a:bodyPr/>
          <a:lstStyle/>
          <a:p>
            <a:fld id="{1F95CC91-641A-44B0-B7D9-ECB3B0356D72}" type="slidenum">
              <a:rPr lang="en-US" smtClean="0"/>
              <a:t>‹#›</a:t>
            </a:fld>
            <a:endParaRPr lang="en-US"/>
          </a:p>
        </p:txBody>
      </p:sp>
    </p:spTree>
    <p:extLst>
      <p:ext uri="{BB962C8B-B14F-4D97-AF65-F5344CB8AC3E}">
        <p14:creationId xmlns:p14="http://schemas.microsoft.com/office/powerpoint/2010/main" val="4692622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62A5E95-C412-88C4-434F-5CCB61881B5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B2E87A1-6A66-556D-EAC9-F1795D725AC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1AEF9CF-724A-9F7B-4339-20E8C751428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DEA78AB-9BA7-400F-A8DC-B05134541861}" type="datetimeFigureOut">
              <a:rPr lang="en-US" smtClean="0"/>
              <a:t>4/27/2025</a:t>
            </a:fld>
            <a:endParaRPr lang="en-US"/>
          </a:p>
        </p:txBody>
      </p:sp>
      <p:sp>
        <p:nvSpPr>
          <p:cNvPr id="5" name="Footer Placeholder 4">
            <a:extLst>
              <a:ext uri="{FF2B5EF4-FFF2-40B4-BE49-F238E27FC236}">
                <a16:creationId xmlns:a16="http://schemas.microsoft.com/office/drawing/2014/main" id="{E3DC7D98-EAAD-6F60-BF7B-173C4AE2471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00876F1-665F-3488-574A-AAA8274BF51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F95CC91-641A-44B0-B7D9-ECB3B0356D72}" type="slidenum">
              <a:rPr lang="en-US" smtClean="0"/>
              <a:t>‹#›</a:t>
            </a:fld>
            <a:endParaRPr lang="en-US"/>
          </a:p>
        </p:txBody>
      </p:sp>
    </p:spTree>
    <p:extLst>
      <p:ext uri="{BB962C8B-B14F-4D97-AF65-F5344CB8AC3E}">
        <p14:creationId xmlns:p14="http://schemas.microsoft.com/office/powerpoint/2010/main" val="33006788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40E823-F898-432B-518A-66BBCE0D4E67}"/>
              </a:ext>
            </a:extLst>
          </p:cNvPr>
          <p:cNvSpPr>
            <a:spLocks noGrp="1"/>
          </p:cNvSpPr>
          <p:nvPr>
            <p:ph type="ctrTitle"/>
          </p:nvPr>
        </p:nvSpPr>
        <p:spPr/>
        <p:txBody>
          <a:bodyPr/>
          <a:lstStyle/>
          <a:p>
            <a:r>
              <a:rPr lang="en-US" dirty="0"/>
              <a:t>Internet of Things IoT</a:t>
            </a:r>
          </a:p>
        </p:txBody>
      </p:sp>
      <p:sp>
        <p:nvSpPr>
          <p:cNvPr id="3" name="Subtitle 2">
            <a:extLst>
              <a:ext uri="{FF2B5EF4-FFF2-40B4-BE49-F238E27FC236}">
                <a16:creationId xmlns:a16="http://schemas.microsoft.com/office/drawing/2014/main" id="{4EF61C25-76CB-4178-F720-F3589D67341B}"/>
              </a:ext>
            </a:extLst>
          </p:cNvPr>
          <p:cNvSpPr>
            <a:spLocks noGrp="1"/>
          </p:cNvSpPr>
          <p:nvPr>
            <p:ph type="subTitle" idx="1"/>
          </p:nvPr>
        </p:nvSpPr>
        <p:spPr/>
        <p:txBody>
          <a:bodyPr/>
          <a:lstStyle/>
          <a:p>
            <a:r>
              <a:rPr lang="en-US" dirty="0"/>
              <a:t>How data used and managed in Internet of Things</a:t>
            </a:r>
          </a:p>
        </p:txBody>
      </p:sp>
    </p:spTree>
    <p:extLst>
      <p:ext uri="{BB962C8B-B14F-4D97-AF65-F5344CB8AC3E}">
        <p14:creationId xmlns:p14="http://schemas.microsoft.com/office/powerpoint/2010/main" val="33453567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6568DFB-3B90-7753-302A-27E52BF61D92}"/>
              </a:ext>
            </a:extLst>
          </p:cNvPr>
          <p:cNvSpPr>
            <a:spLocks noGrp="1"/>
          </p:cNvSpPr>
          <p:nvPr>
            <p:ph idx="1"/>
          </p:nvPr>
        </p:nvSpPr>
        <p:spPr/>
        <p:txBody>
          <a:bodyPr/>
          <a:lstStyle/>
          <a:p>
            <a:r>
              <a:rPr lang="en-US" sz="1800" b="0" i="0" u="none" strike="noStrike" dirty="0">
                <a:solidFill>
                  <a:srgbClr val="000000"/>
                </a:solidFill>
                <a:effectLst/>
                <a:latin typeface="Arial" panose="020B0604020202020204" pitchFamily="34" charset="0"/>
              </a:rPr>
              <a:t>IoT data management involves </a:t>
            </a:r>
            <a:r>
              <a:rPr lang="en-US" sz="1800" b="1" i="0" u="none" strike="noStrike" dirty="0">
                <a:solidFill>
                  <a:srgbClr val="000000"/>
                </a:solidFill>
                <a:effectLst/>
                <a:latin typeface="Arial" panose="020B0604020202020204" pitchFamily="34" charset="0"/>
              </a:rPr>
              <a:t>organizing and utilizing the massive amounts of data generated by connected devices</a:t>
            </a:r>
            <a:r>
              <a:rPr lang="en-US" sz="1800" b="0" i="0" u="none" strike="noStrike" dirty="0">
                <a:solidFill>
                  <a:srgbClr val="000000"/>
                </a:solidFill>
                <a:effectLst/>
                <a:latin typeface="Arial" panose="020B0604020202020204" pitchFamily="34" charset="0"/>
              </a:rPr>
              <a:t>. This includes collecting, storing, analyzing, and sharing data across different platforms to enable informed decision-making and business optimization. Effective IoT data management requires a planned strategy to handle diverse data types, ensure data quality, maintain privacy and security, and leverage data for real-time analytics</a:t>
            </a:r>
            <a:endParaRPr lang="en-US" dirty="0"/>
          </a:p>
        </p:txBody>
      </p:sp>
    </p:spTree>
    <p:extLst>
      <p:ext uri="{BB962C8B-B14F-4D97-AF65-F5344CB8AC3E}">
        <p14:creationId xmlns:p14="http://schemas.microsoft.com/office/powerpoint/2010/main" val="5259325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2AACAEF-F287-8EE2-537C-78423F0EE348}"/>
              </a:ext>
            </a:extLst>
          </p:cNvPr>
          <p:cNvSpPr>
            <a:spLocks noGrp="1"/>
          </p:cNvSpPr>
          <p:nvPr>
            <p:ph idx="1"/>
          </p:nvPr>
        </p:nvSpPr>
        <p:spPr>
          <a:xfrm>
            <a:off x="838200" y="503853"/>
            <a:ext cx="10515600" cy="5673110"/>
          </a:xfrm>
        </p:spPr>
        <p:txBody>
          <a:bodyPr/>
          <a:lstStyle/>
          <a:p>
            <a:pPr rtl="0">
              <a:spcAft>
                <a:spcPts val="1100"/>
              </a:spcAft>
              <a:buNone/>
            </a:pPr>
            <a:r>
              <a:rPr lang="en-US" sz="1800" b="1" i="0" u="none" strike="noStrike" dirty="0">
                <a:solidFill>
                  <a:srgbClr val="000000"/>
                </a:solidFill>
                <a:effectLst/>
                <a:latin typeface="Arial" panose="020B0604020202020204" pitchFamily="34" charset="0"/>
              </a:rPr>
              <a:t>Key Aspects of IoT Data Management:</a:t>
            </a:r>
            <a:endParaRPr lang="en-US" b="0" dirty="0">
              <a:effectLst/>
            </a:endParaRPr>
          </a:p>
          <a:p>
            <a:pPr rtl="0" fontAlgn="base">
              <a:buFont typeface="Arial" panose="020B0604020202020204" pitchFamily="34" charset="0"/>
              <a:buChar char="•"/>
            </a:pPr>
            <a:r>
              <a:rPr lang="en-US" sz="1800" b="1" i="0" u="none" strike="noStrike" dirty="0">
                <a:solidFill>
                  <a:srgbClr val="000000"/>
                </a:solidFill>
                <a:effectLst/>
                <a:latin typeface="Arial" panose="020B0604020202020204" pitchFamily="34" charset="0"/>
              </a:rPr>
              <a:t>Data Collection:</a:t>
            </a:r>
            <a:r>
              <a:rPr lang="en-US" sz="1800" b="0" i="0" u="none" strike="noStrike" dirty="0">
                <a:solidFill>
                  <a:srgbClr val="000000"/>
                </a:solidFill>
                <a:effectLst/>
                <a:latin typeface="Arial" panose="020B0604020202020204" pitchFamily="34" charset="0"/>
              </a:rPr>
              <a:t> Gathering data from various IoT devices and sources. </a:t>
            </a:r>
          </a:p>
          <a:p>
            <a:pPr rtl="0" fontAlgn="base">
              <a:buFont typeface="Arial" panose="020B0604020202020204" pitchFamily="34" charset="0"/>
              <a:buChar char="•"/>
            </a:pPr>
            <a:r>
              <a:rPr lang="en-US" sz="1800" b="1" i="0" u="none" strike="noStrike" dirty="0">
                <a:solidFill>
                  <a:srgbClr val="000000"/>
                </a:solidFill>
                <a:effectLst/>
                <a:latin typeface="Arial" panose="020B0604020202020204" pitchFamily="34" charset="0"/>
              </a:rPr>
              <a:t>Data Storage:</a:t>
            </a:r>
            <a:r>
              <a:rPr lang="en-US" sz="1800" b="0" i="0" u="none" strike="noStrike" dirty="0">
                <a:solidFill>
                  <a:srgbClr val="000000"/>
                </a:solidFill>
                <a:effectLst/>
                <a:latin typeface="Arial" panose="020B0604020202020204" pitchFamily="34" charset="0"/>
              </a:rPr>
              <a:t> Storing the collected data in a secure and accessible manner. </a:t>
            </a:r>
          </a:p>
          <a:p>
            <a:pPr rtl="0" fontAlgn="base">
              <a:buFont typeface="Arial" panose="020B0604020202020204" pitchFamily="34" charset="0"/>
              <a:buChar char="•"/>
            </a:pPr>
            <a:r>
              <a:rPr lang="en-US" sz="1800" b="1" i="0" u="none" strike="noStrike" dirty="0">
                <a:solidFill>
                  <a:srgbClr val="000000"/>
                </a:solidFill>
                <a:effectLst/>
                <a:latin typeface="Arial" panose="020B0604020202020204" pitchFamily="34" charset="0"/>
              </a:rPr>
              <a:t>Data Processing:</a:t>
            </a:r>
            <a:r>
              <a:rPr lang="en-US" sz="1800" b="0" i="0" u="none" strike="noStrike" dirty="0">
                <a:solidFill>
                  <a:srgbClr val="000000"/>
                </a:solidFill>
                <a:effectLst/>
                <a:latin typeface="Arial" panose="020B0604020202020204" pitchFamily="34" charset="0"/>
              </a:rPr>
              <a:t> Transforming and refining data for analysis. </a:t>
            </a:r>
          </a:p>
          <a:p>
            <a:pPr rtl="0" fontAlgn="base">
              <a:buFont typeface="Arial" panose="020B0604020202020204" pitchFamily="34" charset="0"/>
              <a:buChar char="•"/>
            </a:pPr>
            <a:r>
              <a:rPr lang="en-US" sz="1800" b="1" i="0" u="none" strike="noStrike" dirty="0">
                <a:solidFill>
                  <a:srgbClr val="000000"/>
                </a:solidFill>
                <a:effectLst/>
                <a:latin typeface="Arial" panose="020B0604020202020204" pitchFamily="34" charset="0"/>
              </a:rPr>
              <a:t>Data Analysis:</a:t>
            </a:r>
            <a:r>
              <a:rPr lang="en-US" sz="1800" b="0" i="0" u="none" strike="noStrike" dirty="0">
                <a:solidFill>
                  <a:srgbClr val="000000"/>
                </a:solidFill>
                <a:effectLst/>
                <a:latin typeface="Arial" panose="020B0604020202020204" pitchFamily="34" charset="0"/>
              </a:rPr>
              <a:t> Using analytics to extract meaningful insights and trends from the data. </a:t>
            </a:r>
          </a:p>
          <a:p>
            <a:pPr rtl="0" fontAlgn="base">
              <a:buFont typeface="Arial" panose="020B0604020202020204" pitchFamily="34" charset="0"/>
              <a:buChar char="•"/>
            </a:pPr>
            <a:r>
              <a:rPr lang="en-US" sz="1800" b="1" i="0" u="none" strike="noStrike" dirty="0">
                <a:solidFill>
                  <a:srgbClr val="000000"/>
                </a:solidFill>
                <a:effectLst/>
                <a:latin typeface="Arial" panose="020B0604020202020204" pitchFamily="34" charset="0"/>
              </a:rPr>
              <a:t>Data Sharing:</a:t>
            </a:r>
            <a:r>
              <a:rPr lang="en-US" sz="1800" b="0" i="0" u="none" strike="noStrike" dirty="0">
                <a:solidFill>
                  <a:srgbClr val="000000"/>
                </a:solidFill>
                <a:effectLst/>
                <a:latin typeface="Arial" panose="020B0604020202020204" pitchFamily="34" charset="0"/>
              </a:rPr>
              <a:t> Making data available to relevant stakeholders and systems. </a:t>
            </a:r>
          </a:p>
          <a:p>
            <a:pPr rtl="0" fontAlgn="base">
              <a:buFont typeface="Arial" panose="020B0604020202020204" pitchFamily="34" charset="0"/>
              <a:buChar char="•"/>
            </a:pPr>
            <a:r>
              <a:rPr lang="en-US" sz="1800" b="1" i="0" u="none" strike="noStrike" dirty="0">
                <a:solidFill>
                  <a:srgbClr val="000000"/>
                </a:solidFill>
                <a:effectLst/>
                <a:latin typeface="Arial" panose="020B0604020202020204" pitchFamily="34" charset="0"/>
              </a:rPr>
              <a:t>Data Quality:</a:t>
            </a:r>
            <a:r>
              <a:rPr lang="en-US" sz="1800" b="0" i="0" u="none" strike="noStrike" dirty="0">
                <a:solidFill>
                  <a:srgbClr val="000000"/>
                </a:solidFill>
                <a:effectLst/>
                <a:latin typeface="Arial" panose="020B0604020202020204" pitchFamily="34" charset="0"/>
              </a:rPr>
              <a:t> Ensuring the accuracy, completeness, and reliability of the data. </a:t>
            </a:r>
          </a:p>
          <a:p>
            <a:pPr rtl="0" fontAlgn="base">
              <a:buFont typeface="Arial" panose="020B0604020202020204" pitchFamily="34" charset="0"/>
              <a:buChar char="•"/>
            </a:pPr>
            <a:r>
              <a:rPr lang="en-US" sz="1800" b="1" i="0" u="none" strike="noStrike" dirty="0">
                <a:solidFill>
                  <a:srgbClr val="000000"/>
                </a:solidFill>
                <a:effectLst/>
                <a:latin typeface="Arial" panose="020B0604020202020204" pitchFamily="34" charset="0"/>
              </a:rPr>
              <a:t>Security and Privacy:</a:t>
            </a:r>
            <a:r>
              <a:rPr lang="en-US" sz="1800" b="0" i="0" u="none" strike="noStrike" dirty="0">
                <a:solidFill>
                  <a:srgbClr val="000000"/>
                </a:solidFill>
                <a:effectLst/>
                <a:latin typeface="Arial" panose="020B0604020202020204" pitchFamily="34" charset="0"/>
              </a:rPr>
              <a:t> Implementing measures to protect sensitive data and comply with regulations. </a:t>
            </a:r>
            <a:endParaRPr lang="en-US" dirty="0"/>
          </a:p>
        </p:txBody>
      </p:sp>
    </p:spTree>
    <p:extLst>
      <p:ext uri="{BB962C8B-B14F-4D97-AF65-F5344CB8AC3E}">
        <p14:creationId xmlns:p14="http://schemas.microsoft.com/office/powerpoint/2010/main" val="7206805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AD8AD90-3CDC-E890-9E58-3390A7C1F92E}"/>
              </a:ext>
            </a:extLst>
          </p:cNvPr>
          <p:cNvSpPr>
            <a:spLocks noGrp="1"/>
          </p:cNvSpPr>
          <p:nvPr>
            <p:ph idx="1"/>
          </p:nvPr>
        </p:nvSpPr>
        <p:spPr>
          <a:xfrm>
            <a:off x="838200" y="494522"/>
            <a:ext cx="10515600" cy="5682441"/>
          </a:xfrm>
        </p:spPr>
        <p:txBody>
          <a:bodyPr/>
          <a:lstStyle/>
          <a:p>
            <a:pPr rtl="0">
              <a:spcAft>
                <a:spcPts val="1100"/>
              </a:spcAft>
              <a:buNone/>
            </a:pPr>
            <a:r>
              <a:rPr lang="en-US" sz="1800" b="1" i="0" u="none" strike="noStrike" dirty="0">
                <a:solidFill>
                  <a:srgbClr val="000000"/>
                </a:solidFill>
                <a:effectLst/>
                <a:latin typeface="Arial" panose="020B0604020202020204" pitchFamily="34" charset="0"/>
              </a:rPr>
              <a:t>Benefits of Effective IoT Data Management: </a:t>
            </a:r>
          </a:p>
          <a:p>
            <a:pPr>
              <a:spcAft>
                <a:spcPts val="1100"/>
              </a:spcAft>
            </a:pPr>
            <a:r>
              <a:rPr lang="en-US" sz="1800" b="1" i="0" u="none" strike="noStrike" dirty="0">
                <a:solidFill>
                  <a:srgbClr val="000000"/>
                </a:solidFill>
                <a:effectLst/>
                <a:latin typeface="Arial" panose="020B0604020202020204" pitchFamily="34" charset="0"/>
              </a:rPr>
              <a:t>Improved Decision-Making:</a:t>
            </a:r>
            <a:r>
              <a:rPr lang="en-US" sz="1800" b="0" i="0" u="none" strike="noStrike" dirty="0">
                <a:solidFill>
                  <a:srgbClr val="000000"/>
                </a:solidFill>
                <a:effectLst/>
                <a:latin typeface="Arial" panose="020B0604020202020204" pitchFamily="34" charset="0"/>
              </a:rPr>
              <a:t> Real-time data analysis allows for faster and more informed decisions. </a:t>
            </a:r>
          </a:p>
          <a:p>
            <a:pPr>
              <a:spcAft>
                <a:spcPts val="1100"/>
              </a:spcAft>
            </a:pPr>
            <a:r>
              <a:rPr lang="en-US" sz="1800" b="1" i="0" u="none" strike="noStrike" dirty="0">
                <a:solidFill>
                  <a:srgbClr val="000000"/>
                </a:solidFill>
                <a:effectLst/>
                <a:latin typeface="Arial" panose="020B0604020202020204" pitchFamily="34" charset="0"/>
              </a:rPr>
              <a:t>Optimized Operations:</a:t>
            </a:r>
            <a:r>
              <a:rPr lang="en-US" sz="1800" b="0" i="0" u="none" strike="noStrike" dirty="0">
                <a:solidFill>
                  <a:srgbClr val="000000"/>
                </a:solidFill>
                <a:effectLst/>
                <a:latin typeface="Arial" panose="020B0604020202020204" pitchFamily="34" charset="0"/>
              </a:rPr>
              <a:t> Data insights can help identify areas for efficiency gains and cost reductions. </a:t>
            </a:r>
          </a:p>
          <a:p>
            <a:pPr>
              <a:spcAft>
                <a:spcPts val="1100"/>
              </a:spcAft>
            </a:pPr>
            <a:r>
              <a:rPr lang="en-US" sz="1800" b="1" i="0" u="none" strike="noStrike" dirty="0">
                <a:solidFill>
                  <a:srgbClr val="000000"/>
                </a:solidFill>
                <a:effectLst/>
                <a:latin typeface="Arial" panose="020B0604020202020204" pitchFamily="34" charset="0"/>
              </a:rPr>
              <a:t>Enhanced Product Development:</a:t>
            </a:r>
            <a:r>
              <a:rPr lang="en-US" sz="1800" b="0" i="0" u="none" strike="noStrike" dirty="0">
                <a:solidFill>
                  <a:srgbClr val="000000"/>
                </a:solidFill>
                <a:effectLst/>
                <a:latin typeface="Arial" panose="020B0604020202020204" pitchFamily="34" charset="0"/>
              </a:rPr>
              <a:t> Understanding user behavior and product performance data can lead to better design and development. </a:t>
            </a:r>
          </a:p>
          <a:p>
            <a:pPr>
              <a:spcAft>
                <a:spcPts val="1100"/>
              </a:spcAft>
            </a:pPr>
            <a:r>
              <a:rPr lang="en-US" sz="1800" b="1" i="0" u="none" strike="noStrike" dirty="0">
                <a:solidFill>
                  <a:srgbClr val="000000"/>
                </a:solidFill>
                <a:effectLst/>
                <a:latin typeface="Arial" panose="020B0604020202020204" pitchFamily="34" charset="0"/>
              </a:rPr>
              <a:t>Increased Agility:</a:t>
            </a:r>
            <a:r>
              <a:rPr lang="en-US" sz="1800" b="0" i="0" u="none" strike="noStrike" dirty="0">
                <a:solidFill>
                  <a:srgbClr val="000000"/>
                </a:solidFill>
                <a:effectLst/>
                <a:latin typeface="Arial" panose="020B0604020202020204" pitchFamily="34" charset="0"/>
              </a:rPr>
              <a:t> Quick access to data enables businesses to respond rapidly to changes in the market or user needs. </a:t>
            </a:r>
          </a:p>
          <a:p>
            <a:pPr>
              <a:spcAft>
                <a:spcPts val="1100"/>
              </a:spcAft>
            </a:pPr>
            <a:r>
              <a:rPr lang="en-US" sz="1800" b="1" i="0" u="none" strike="noStrike" dirty="0">
                <a:solidFill>
                  <a:srgbClr val="000000"/>
                </a:solidFill>
                <a:effectLst/>
                <a:latin typeface="Arial" panose="020B0604020202020204" pitchFamily="34" charset="0"/>
              </a:rPr>
              <a:t>Reduced Downtime:</a:t>
            </a:r>
            <a:r>
              <a:rPr lang="en-US" sz="1800" b="0" i="0" u="none" strike="noStrike" dirty="0">
                <a:solidFill>
                  <a:srgbClr val="000000"/>
                </a:solidFill>
                <a:effectLst/>
                <a:latin typeface="Arial" panose="020B0604020202020204" pitchFamily="34" charset="0"/>
              </a:rPr>
              <a:t> Predictive maintenance based on data analysis can minimize equipment failures and downtime. </a:t>
            </a:r>
          </a:p>
          <a:p>
            <a:pPr>
              <a:buNone/>
            </a:pPr>
            <a:r>
              <a:rPr lang="en-US" sz="1800" b="1" i="0" u="none" strike="noStrike" dirty="0">
                <a:solidFill>
                  <a:srgbClr val="000000"/>
                </a:solidFill>
                <a:effectLst/>
                <a:latin typeface="Arial" panose="020B0604020202020204" pitchFamily="34" charset="0"/>
              </a:rPr>
              <a:t>Improved Customer Experience:</a:t>
            </a:r>
            <a:r>
              <a:rPr lang="en-US" sz="1800" b="0" i="0" u="none" strike="noStrike" dirty="0">
                <a:solidFill>
                  <a:srgbClr val="000000"/>
                </a:solidFill>
                <a:effectLst/>
                <a:latin typeface="Arial" panose="020B0604020202020204" pitchFamily="34" charset="0"/>
              </a:rPr>
              <a:t> Data-driven insights can be used to personalize customer experiences and tailor services.</a:t>
            </a:r>
            <a:endParaRPr lang="en-US" dirty="0"/>
          </a:p>
        </p:txBody>
      </p:sp>
    </p:spTree>
    <p:extLst>
      <p:ext uri="{BB962C8B-B14F-4D97-AF65-F5344CB8AC3E}">
        <p14:creationId xmlns:p14="http://schemas.microsoft.com/office/powerpoint/2010/main" val="5078628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DCDCB41-6D1A-AE76-54B6-4D2B7B05777A}"/>
              </a:ext>
            </a:extLst>
          </p:cNvPr>
          <p:cNvSpPr>
            <a:spLocks noGrp="1"/>
          </p:cNvSpPr>
          <p:nvPr>
            <p:ph idx="1"/>
          </p:nvPr>
        </p:nvSpPr>
        <p:spPr>
          <a:xfrm>
            <a:off x="838200" y="587829"/>
            <a:ext cx="10515600" cy="5589134"/>
          </a:xfrm>
        </p:spPr>
        <p:txBody>
          <a:bodyPr/>
          <a:lstStyle/>
          <a:p>
            <a:pPr rtl="0">
              <a:spcAft>
                <a:spcPts val="1100"/>
              </a:spcAft>
              <a:buNone/>
            </a:pPr>
            <a:r>
              <a:rPr lang="en-US" sz="1800" b="1" i="0" u="none" strike="noStrike" dirty="0">
                <a:solidFill>
                  <a:srgbClr val="000000"/>
                </a:solidFill>
                <a:effectLst/>
                <a:latin typeface="Arial" panose="020B0604020202020204" pitchFamily="34" charset="0"/>
              </a:rPr>
              <a:t>Challenges of IoT Data Management: </a:t>
            </a:r>
          </a:p>
          <a:p>
            <a:pPr>
              <a:spcAft>
                <a:spcPts val="1100"/>
              </a:spcAft>
            </a:pPr>
            <a:r>
              <a:rPr lang="en-US" sz="1800" b="1" i="0" u="none" strike="noStrike" dirty="0">
                <a:solidFill>
                  <a:srgbClr val="000000"/>
                </a:solidFill>
                <a:effectLst/>
                <a:latin typeface="Arial" panose="020B0604020202020204" pitchFamily="34" charset="0"/>
              </a:rPr>
              <a:t>Data Volume and Velocity:</a:t>
            </a:r>
            <a:r>
              <a:rPr lang="en-US" sz="1800" b="0" i="0" u="none" strike="noStrike" dirty="0">
                <a:solidFill>
                  <a:srgbClr val="000000"/>
                </a:solidFill>
                <a:effectLst/>
                <a:latin typeface="Arial" panose="020B0604020202020204" pitchFamily="34" charset="0"/>
              </a:rPr>
              <a:t> Handling the massive and rapidly increasing volumes of data generated by IoT devices. </a:t>
            </a:r>
          </a:p>
          <a:p>
            <a:pPr>
              <a:spcAft>
                <a:spcPts val="1100"/>
              </a:spcAft>
            </a:pPr>
            <a:r>
              <a:rPr lang="en-US" sz="1800" b="1" i="0" u="none" strike="noStrike" dirty="0">
                <a:solidFill>
                  <a:srgbClr val="000000"/>
                </a:solidFill>
                <a:effectLst/>
                <a:latin typeface="Arial" panose="020B0604020202020204" pitchFamily="34" charset="0"/>
              </a:rPr>
              <a:t>Data Diversity and Heterogeneity:</a:t>
            </a:r>
            <a:r>
              <a:rPr lang="en-US" sz="1800" b="0" i="0" u="none" strike="noStrike" dirty="0">
                <a:solidFill>
                  <a:srgbClr val="000000"/>
                </a:solidFill>
                <a:effectLst/>
                <a:latin typeface="Arial" panose="020B0604020202020204" pitchFamily="34" charset="0"/>
              </a:rPr>
              <a:t> Managing data from various sources and formats. </a:t>
            </a:r>
          </a:p>
          <a:p>
            <a:pPr rtl="0" fontAlgn="base">
              <a:buFont typeface="Arial" panose="020B0604020202020204" pitchFamily="34" charset="0"/>
              <a:buChar char="•"/>
            </a:pPr>
            <a:r>
              <a:rPr lang="en-US" sz="1800" b="1" i="0" u="none" strike="noStrike" dirty="0">
                <a:solidFill>
                  <a:srgbClr val="000000"/>
                </a:solidFill>
                <a:effectLst/>
                <a:latin typeface="Arial" panose="020B0604020202020204" pitchFamily="34" charset="0"/>
              </a:rPr>
              <a:t>Data Security and Privacy:</a:t>
            </a:r>
            <a:r>
              <a:rPr lang="en-US" sz="1800" b="0" i="0" u="none" strike="noStrike" dirty="0">
                <a:solidFill>
                  <a:srgbClr val="000000"/>
                </a:solidFill>
                <a:effectLst/>
                <a:latin typeface="Arial" panose="020B0604020202020204" pitchFamily="34" charset="0"/>
              </a:rPr>
              <a:t> Protecting sensitive data and complying with regulations. </a:t>
            </a:r>
          </a:p>
          <a:p>
            <a:pPr rtl="0" fontAlgn="base">
              <a:buFont typeface="Arial" panose="020B0604020202020204" pitchFamily="34" charset="0"/>
              <a:buChar char="•"/>
            </a:pPr>
            <a:r>
              <a:rPr lang="en-US" sz="1800" b="1" i="0" u="none" strike="noStrike" dirty="0">
                <a:solidFill>
                  <a:srgbClr val="000000"/>
                </a:solidFill>
                <a:effectLst/>
                <a:latin typeface="Arial" panose="020B0604020202020204" pitchFamily="34" charset="0"/>
              </a:rPr>
              <a:t>Scalability and Flexibility:</a:t>
            </a:r>
            <a:r>
              <a:rPr lang="en-US" sz="1800" b="0" i="0" u="none" strike="noStrike" dirty="0">
                <a:solidFill>
                  <a:srgbClr val="000000"/>
                </a:solidFill>
                <a:effectLst/>
                <a:latin typeface="Arial" panose="020B0604020202020204" pitchFamily="34" charset="0"/>
              </a:rPr>
              <a:t> Ensuring the data management infrastructure can handle growing data volumes and evolving needs.</a:t>
            </a:r>
          </a:p>
          <a:p>
            <a:pPr rtl="0" fontAlgn="base">
              <a:buFont typeface="Arial" panose="020B0604020202020204" pitchFamily="34" charset="0"/>
              <a:buChar char="•"/>
            </a:pPr>
            <a:r>
              <a:rPr lang="en-US" sz="1800" b="1" i="0" u="none" strike="noStrike" dirty="0">
                <a:solidFill>
                  <a:srgbClr val="000000"/>
                </a:solidFill>
                <a:effectLst/>
                <a:latin typeface="Arial" panose="020B0604020202020204" pitchFamily="34" charset="0"/>
              </a:rPr>
              <a:t>Data Integration:</a:t>
            </a:r>
            <a:r>
              <a:rPr lang="en-US" sz="1800" b="0" i="0" u="none" strike="noStrike" dirty="0">
                <a:solidFill>
                  <a:srgbClr val="000000"/>
                </a:solidFill>
                <a:effectLst/>
                <a:latin typeface="Arial" panose="020B0604020202020204" pitchFamily="34" charset="0"/>
              </a:rPr>
              <a:t> Integrating data from different systems and platforms. </a:t>
            </a:r>
          </a:p>
          <a:p>
            <a:pPr rtl="0" fontAlgn="base">
              <a:buFont typeface="Arial" panose="020B0604020202020204" pitchFamily="34" charset="0"/>
              <a:buChar char="•"/>
            </a:pPr>
            <a:r>
              <a:rPr lang="en-US" sz="1800" b="1" i="0" u="none" strike="noStrike" dirty="0">
                <a:solidFill>
                  <a:srgbClr val="000000"/>
                </a:solidFill>
                <a:effectLst/>
                <a:latin typeface="Arial" panose="020B0604020202020204" pitchFamily="34" charset="0"/>
              </a:rPr>
              <a:t>Real-Time Processing:</a:t>
            </a:r>
            <a:r>
              <a:rPr lang="en-US" sz="1800" b="0" i="0" u="none" strike="noStrike" dirty="0">
                <a:solidFill>
                  <a:srgbClr val="000000"/>
                </a:solidFill>
                <a:effectLst/>
                <a:latin typeface="Arial" panose="020B0604020202020204" pitchFamily="34" charset="0"/>
              </a:rPr>
              <a:t> </a:t>
            </a:r>
            <a:r>
              <a:rPr lang="en-US" sz="1800" b="0" i="0" u="none" strike="noStrike" dirty="0" err="1">
                <a:solidFill>
                  <a:srgbClr val="000000"/>
                </a:solidFill>
                <a:effectLst/>
                <a:latin typeface="Arial" panose="020B0604020202020204" pitchFamily="34" charset="0"/>
              </a:rPr>
              <a:t>Processingand</a:t>
            </a:r>
            <a:r>
              <a:rPr lang="en-US" sz="1800" b="0" i="0" u="none" strike="noStrike" dirty="0">
                <a:solidFill>
                  <a:srgbClr val="000000"/>
                </a:solidFill>
                <a:effectLst/>
                <a:latin typeface="Arial" panose="020B0604020202020204" pitchFamily="34" charset="0"/>
              </a:rPr>
              <a:t> analyzing data in real-time to provide timely insights.</a:t>
            </a:r>
            <a:endParaRPr lang="en-US" dirty="0"/>
          </a:p>
        </p:txBody>
      </p:sp>
    </p:spTree>
    <p:extLst>
      <p:ext uri="{BB962C8B-B14F-4D97-AF65-F5344CB8AC3E}">
        <p14:creationId xmlns:p14="http://schemas.microsoft.com/office/powerpoint/2010/main" val="16574366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CE0090C-DD66-7CDC-32A8-FE011D454BF7}"/>
              </a:ext>
            </a:extLst>
          </p:cNvPr>
          <p:cNvSpPr>
            <a:spLocks noGrp="1"/>
          </p:cNvSpPr>
          <p:nvPr>
            <p:ph idx="1"/>
          </p:nvPr>
        </p:nvSpPr>
        <p:spPr/>
        <p:txBody>
          <a:bodyPr/>
          <a:lstStyle/>
          <a:p>
            <a:r>
              <a:rPr lang="en-US" sz="1800" dirty="0">
                <a:latin typeface="Arial" panose="020B0604020202020204" pitchFamily="34" charset="0"/>
                <a:cs typeface="Arial" panose="020B0604020202020204" pitchFamily="34" charset="0"/>
              </a:rPr>
              <a:t>IoT data management faces significant security and privacy dangers due to the interconnected nature of devices, leading to potential data breaches, privacy violations, and system compromises. These risks are amplified by vulnerabilities in device firmware, weak authentication methods, and insecure network protocols, making IoT devices prime targets for cyberattacks. </a:t>
            </a:r>
          </a:p>
          <a:p>
            <a:r>
              <a:rPr lang="en-US" sz="1800" b="0" i="0" u="none" strike="noStrike" dirty="0">
                <a:solidFill>
                  <a:srgbClr val="000000"/>
                </a:solidFill>
                <a:effectLst/>
                <a:latin typeface="Arial" panose="020B0604020202020204" pitchFamily="34" charset="0"/>
              </a:rPr>
              <a:t>In summary, effective IoT data management is crucial for organizations to leverage the full potential of IoT data and achieve their business goals. It involves a holistic approach to data collection, storage, processing, analysis, and sharing, while also addressing the unique challenges posed by the massive and diverse nature of IoT data.</a:t>
            </a:r>
            <a:endParaRPr lang="en-US" dirty="0"/>
          </a:p>
        </p:txBody>
      </p:sp>
    </p:spTree>
    <p:extLst>
      <p:ext uri="{BB962C8B-B14F-4D97-AF65-F5344CB8AC3E}">
        <p14:creationId xmlns:p14="http://schemas.microsoft.com/office/powerpoint/2010/main" val="26780430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TotalTime>
  <Words>501</Words>
  <Application>Microsoft Office PowerPoint</Application>
  <PresentationFormat>Widescreen</PresentationFormat>
  <Paragraphs>27</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Aptos</vt:lpstr>
      <vt:lpstr>Aptos Display</vt:lpstr>
      <vt:lpstr>Arial</vt:lpstr>
      <vt:lpstr>Office Theme</vt:lpstr>
      <vt:lpstr>Internet of Things IoT</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Farhod Ibragimov</dc:creator>
  <cp:lastModifiedBy>Farhod Ibragimov</cp:lastModifiedBy>
  <cp:revision>2</cp:revision>
  <dcterms:created xsi:type="dcterms:W3CDTF">2025-04-27T07:15:59Z</dcterms:created>
  <dcterms:modified xsi:type="dcterms:W3CDTF">2025-04-27T07:37:01Z</dcterms:modified>
</cp:coreProperties>
</file>