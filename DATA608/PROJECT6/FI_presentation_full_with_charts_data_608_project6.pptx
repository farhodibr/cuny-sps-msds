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474" y="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9816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frames the scale: millions of Americans, including vulnerable groups.</a:t>
            </a:r>
          </a:p>
          <a:p>
            <a:r>
              <a:t>Use this to emphasize urgency and the political stakes.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Highlights structural drivers: housing, healthcare, wages.</a:t>
            </a:r>
          </a:p>
          <a:p>
            <a:r>
              <a:t>Set up for policy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Strong correlation visuals. Position FI as both economic and public health challenge.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Children heavily affected—this resonates strongly with voters and policymakers.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Geographic disparities. Use to highlight regional policy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Clear positive correlation. Useful when arguing for economic relief policies.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Shows health burden—connect to Medicaid/Medicare cost arguments.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Final impact chain—great for summarizing systemic effects.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D457B-49FA-F2D0-3BD1-AB6FFCC8E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23724"/>
            <a:ext cx="8229600" cy="1143000"/>
          </a:xfrm>
        </p:spPr>
        <p:txBody>
          <a:bodyPr>
            <a:noAutofit/>
          </a:bodyPr>
          <a:lstStyle/>
          <a:p>
            <a:r>
              <a:rPr lang="en-US" dirty="0"/>
              <a:t>Understanding Food Insecurity in the United States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A24958-E60A-03EC-FA03-80CA5CF4BE95}"/>
              </a:ext>
            </a:extLst>
          </p:cNvPr>
          <p:cNvSpPr txBox="1"/>
          <p:nvPr/>
        </p:nvSpPr>
        <p:spPr>
          <a:xfrm>
            <a:off x="1343608" y="2981130"/>
            <a:ext cx="61208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Patterns Across States, Key Risk Factors, and Consequences for Public Health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0712C8-C62B-7EC4-B544-8CE9C5020D1B}"/>
              </a:ext>
            </a:extLst>
          </p:cNvPr>
          <p:cNvSpPr txBox="1"/>
          <p:nvPr/>
        </p:nvSpPr>
        <p:spPr>
          <a:xfrm>
            <a:off x="643813" y="4963885"/>
            <a:ext cx="34131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Prepared by: Farhod Ibragimov </a:t>
            </a:r>
          </a:p>
          <a:p>
            <a:br>
              <a:rPr lang="en-US" dirty="0"/>
            </a:br>
            <a:r>
              <a:rPr lang="en-US" dirty="0"/>
              <a:t>Sources: USDA ERS, CDC BRFSS, ACS, Feeding America (2023)</a:t>
            </a:r>
          </a:p>
        </p:txBody>
      </p:sp>
    </p:spTree>
    <p:extLst>
      <p:ext uri="{BB962C8B-B14F-4D97-AF65-F5344CB8AC3E}">
        <p14:creationId xmlns:p14="http://schemas.microsoft.com/office/powerpoint/2010/main" val="1776699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rPr lang="en-US" dirty="0"/>
              <a:t>US </a:t>
            </a:r>
            <a:r>
              <a:rPr dirty="0"/>
              <a:t>Population Snapshot</a:t>
            </a:r>
            <a:r>
              <a:rPr lang="en-US" dirty="0"/>
              <a:t> 2023</a:t>
            </a:r>
            <a:endParaRPr dirty="0"/>
          </a:p>
        </p:txBody>
      </p:sp>
      <p:pic>
        <p:nvPicPr>
          <p:cNvPr id="3" name="Picture 2" descr="population_sta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8229600" cy="32918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86EE0AB-9C4B-F166-A32D-969284478942}"/>
              </a:ext>
            </a:extLst>
          </p:cNvPr>
          <p:cNvSpPr txBox="1"/>
          <p:nvPr/>
        </p:nvSpPr>
        <p:spPr>
          <a:xfrm>
            <a:off x="905068" y="4861249"/>
            <a:ext cx="77817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Food insecurity does not hit all groups equally. Nationally, around </a:t>
            </a:r>
            <a:r>
              <a:rPr lang="en-US" b="1" dirty="0"/>
              <a:t>48 million people</a:t>
            </a:r>
            <a:r>
              <a:rPr lang="en-US" dirty="0"/>
              <a:t> face uncertainty about their next meal. The burden is highest among </a:t>
            </a:r>
            <a:r>
              <a:rPr lang="en-US" b="1" dirty="0"/>
              <a:t>children</a:t>
            </a:r>
            <a:r>
              <a:rPr lang="en-US" dirty="0"/>
              <a:t> and </a:t>
            </a:r>
            <a:r>
              <a:rPr lang="en-US" b="1" dirty="0"/>
              <a:t>older adults</a:t>
            </a:r>
            <a:r>
              <a:rPr lang="en-US" dirty="0"/>
              <a:t>, groups that are especially vulnerable to long-term developmental and health impacts.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Drivers of Food Insecurity</a:t>
            </a:r>
          </a:p>
        </p:txBody>
      </p:sp>
      <p:pic>
        <p:nvPicPr>
          <p:cNvPr id="3" name="Picture 2" descr="drivers_of_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8229600" cy="38404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CB422C3-3D74-82DE-6B90-35D4F2406CFC}"/>
              </a:ext>
            </a:extLst>
          </p:cNvPr>
          <p:cNvSpPr txBox="1"/>
          <p:nvPr/>
        </p:nvSpPr>
        <p:spPr>
          <a:xfrm>
            <a:off x="783771" y="4937760"/>
            <a:ext cx="790302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When we examine the drivers side by side, we see a consistent pattern: states with higher </a:t>
            </a:r>
            <a:r>
              <a:rPr lang="en-US" b="1" dirty="0"/>
              <a:t>poverty</a:t>
            </a:r>
            <a:r>
              <a:rPr lang="en-US" dirty="0"/>
              <a:t>, </a:t>
            </a:r>
            <a:r>
              <a:rPr lang="en-US" b="1" dirty="0"/>
              <a:t>income inequality</a:t>
            </a:r>
            <a:r>
              <a:rPr lang="en-US" dirty="0"/>
              <a:t>, and </a:t>
            </a:r>
            <a:r>
              <a:rPr lang="en-US" b="1" dirty="0"/>
              <a:t>housing cost burden</a:t>
            </a:r>
            <a:r>
              <a:rPr lang="en-US" dirty="0"/>
              <a:t> show significantly higher food insecurity. Healthcare access is also a critical factor — particularly the share of people who avoid care due to cost. These indicators reinforce that food insecurity is not only about food availability, but about affordability and economic stability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Food Insecurity &amp; Health Risks</a:t>
            </a:r>
          </a:p>
        </p:txBody>
      </p:sp>
      <p:pic>
        <p:nvPicPr>
          <p:cNvPr id="3" name="Picture 2" descr="disease_scatterpl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8229600" cy="35559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F97833F-9F37-A5C6-1108-50C2BA83479D}"/>
              </a:ext>
            </a:extLst>
          </p:cNvPr>
          <p:cNvSpPr txBox="1"/>
          <p:nvPr/>
        </p:nvSpPr>
        <p:spPr>
          <a:xfrm>
            <a:off x="541176" y="5152687"/>
            <a:ext cx="81456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charts highlights the correlation between food insecurity and chronic diseases. The relationship is strongest with </a:t>
            </a:r>
            <a:r>
              <a:rPr lang="en-US" b="1" dirty="0"/>
              <a:t>diabetes</a:t>
            </a:r>
            <a:r>
              <a:rPr lang="en-US" dirty="0"/>
              <a:t> and </a:t>
            </a:r>
            <a:r>
              <a:rPr lang="en-US" b="1" dirty="0"/>
              <a:t>high blood pressure. </a:t>
            </a:r>
            <a:r>
              <a:rPr lang="en-US" dirty="0"/>
              <a:t>These conditions are closely linked to diet quality, healthcare access, and economic stress. The higher the food insecurity rate in a state, the higher the prevalence of these chronic health challenges tends to be.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55786"/>
          </a:xfrm>
        </p:spPr>
        <p:txBody>
          <a:bodyPr>
            <a:normAutofit fontScale="90000"/>
          </a:bodyPr>
          <a:lstStyle/>
          <a:p>
            <a:pPr>
              <a:defRPr sz="3200" b="1"/>
            </a:pPr>
            <a:r>
              <a:rPr dirty="0"/>
              <a:t>Child Food Insecurity</a:t>
            </a:r>
          </a:p>
        </p:txBody>
      </p:sp>
      <p:pic>
        <p:nvPicPr>
          <p:cNvPr id="3" name="Picture 2" descr="child_fi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175" y="692490"/>
            <a:ext cx="8229600" cy="481586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D6F4677-67C7-2718-F6D7-932C9540ED84}"/>
              </a:ext>
            </a:extLst>
          </p:cNvPr>
          <p:cNvSpPr txBox="1"/>
          <p:nvPr/>
        </p:nvSpPr>
        <p:spPr>
          <a:xfrm>
            <a:off x="195943" y="5380672"/>
            <a:ext cx="887341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children, food insecurity is especially damaging. This map shows where children face the greatest barriers to nutrition. The geographic patterns are clear: the problem concentrates in parts of the South and Southwest, but also appears in pockets of Appalachia and the Northeast. These elevated rates among children create long-term risk for lower academic achievement, health complications, and lower lifetime earnings.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37125"/>
          </a:xfrm>
        </p:spPr>
        <p:txBody>
          <a:bodyPr>
            <a:normAutofit fontScale="90000"/>
          </a:bodyPr>
          <a:lstStyle/>
          <a:p>
            <a:pPr>
              <a:defRPr sz="3200" b="1"/>
            </a:pPr>
            <a:r>
              <a:rPr dirty="0"/>
              <a:t>Poverty &amp; FI Maps</a:t>
            </a:r>
          </a:p>
        </p:txBody>
      </p:sp>
      <p:pic>
        <p:nvPicPr>
          <p:cNvPr id="3" name="Picture 2" descr="poverty_vs_fi_ma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69775"/>
            <a:ext cx="8229600" cy="44674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8D3D657-4859-D517-8C0C-D7A9A655AFE5}"/>
              </a:ext>
            </a:extLst>
          </p:cNvPr>
          <p:cNvSpPr txBox="1"/>
          <p:nvPr/>
        </p:nvSpPr>
        <p:spPr>
          <a:xfrm>
            <a:off x="317241" y="5211062"/>
            <a:ext cx="852817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When we compare poverty rates and food insecurity side by side, the overlap is striking. States with high poverty — like Mississippi, Louisiana, Arkansas, and New Mexico — also experience the highest food insecurity. However, the differences matter too: some states show higher food insecurity than poverty would predict, which indicates additional factors like housing costs, transportation, and access to food retailers play important roles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46456"/>
          </a:xfrm>
        </p:spPr>
        <p:txBody>
          <a:bodyPr>
            <a:normAutofit fontScale="90000"/>
          </a:bodyPr>
          <a:lstStyle/>
          <a:p>
            <a:pPr>
              <a:defRPr sz="3200" b="1"/>
            </a:pPr>
            <a:r>
              <a:rPr dirty="0"/>
              <a:t>Poverty vs FI Relationship</a:t>
            </a:r>
          </a:p>
        </p:txBody>
      </p:sp>
      <p:pic>
        <p:nvPicPr>
          <p:cNvPr id="3" name="Picture 2" descr="poverty_vs_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886" y="821094"/>
            <a:ext cx="8294914" cy="45579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1F4E522-5513-B779-CAE5-3C85DB592217}"/>
              </a:ext>
            </a:extLst>
          </p:cNvPr>
          <p:cNvSpPr txBox="1"/>
          <p:nvPr/>
        </p:nvSpPr>
        <p:spPr>
          <a:xfrm>
            <a:off x="457200" y="5368353"/>
            <a:ext cx="839755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quantitative look confirms the strong linear relationship. Food insecurity rises by approximately </a:t>
            </a:r>
            <a:r>
              <a:rPr lang="en-US" b="1" dirty="0"/>
              <a:t>1.2 percentage points</a:t>
            </a:r>
            <a:r>
              <a:rPr lang="en-US" dirty="0"/>
              <a:t> for every </a:t>
            </a:r>
            <a:r>
              <a:rPr lang="en-US" b="1" dirty="0"/>
              <a:t>1 point increase in poverty rate</a:t>
            </a:r>
            <a:r>
              <a:rPr lang="en-US" dirty="0"/>
              <a:t>. This makes poverty the single most influential predictor in our model. From a policy standpoint, this highlights why anti-poverty interventions are also food security interventions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Health Risk Multipliers</a:t>
            </a:r>
          </a:p>
        </p:txBody>
      </p:sp>
      <p:pic>
        <p:nvPicPr>
          <p:cNvPr id="3" name="Picture 2" descr="FI_risk_rai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8229600" cy="26566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E741B97-3027-781B-4E8F-83FE20455673}"/>
              </a:ext>
            </a:extLst>
          </p:cNvPr>
          <p:cNvSpPr txBox="1"/>
          <p:nvPr/>
        </p:nvSpPr>
        <p:spPr>
          <a:xfrm>
            <a:off x="1101012" y="3997166"/>
            <a:ext cx="694197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Food insecurity amplifies health risks across multiple categories. Individuals facing food insecurity have:</a:t>
            </a:r>
            <a:br>
              <a:rPr lang="en-US"/>
            </a:br>
            <a:r>
              <a:rPr lang="en-US"/>
              <a:t>• A </a:t>
            </a:r>
            <a:r>
              <a:rPr lang="en-US" b="1"/>
              <a:t>2× higher risk of diabetes complications</a:t>
            </a:r>
            <a:br>
              <a:rPr lang="en-US"/>
            </a:br>
            <a:r>
              <a:rPr lang="en-US"/>
              <a:t>• A </a:t>
            </a:r>
            <a:r>
              <a:rPr lang="en-US" b="1"/>
              <a:t>1.7× higher risk of hypertension instability</a:t>
            </a:r>
            <a:br>
              <a:rPr lang="en-US"/>
            </a:br>
            <a:r>
              <a:rPr lang="en-US"/>
              <a:t>• A </a:t>
            </a:r>
            <a:r>
              <a:rPr lang="en-US" b="1"/>
              <a:t>1.8× higher risk of frequent mental distress</a:t>
            </a:r>
            <a:br>
              <a:rPr lang="en-US"/>
            </a:br>
            <a:r>
              <a:rPr lang="en-US"/>
              <a:t>• A </a:t>
            </a:r>
            <a:r>
              <a:rPr lang="en-US" b="1"/>
              <a:t>2–3× higher likelihood of delaying medical care</a:t>
            </a:r>
            <a:br>
              <a:rPr lang="en-US"/>
            </a:br>
            <a:r>
              <a:rPr lang="en-US"/>
              <a:t>These multipliers underline that food insecurity has cascading impacts on both physical and mental health.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rPr dirty="0"/>
              <a:t>Consequences of F</a:t>
            </a:r>
            <a:r>
              <a:rPr lang="en-US" dirty="0"/>
              <a:t>ood </a:t>
            </a:r>
            <a:r>
              <a:rPr lang="en-US" dirty="0" err="1"/>
              <a:t>Insecirity</a:t>
            </a:r>
            <a:endParaRPr dirty="0"/>
          </a:p>
        </p:txBody>
      </p:sp>
      <p:pic>
        <p:nvPicPr>
          <p:cNvPr id="3" name="Picture 2" descr="consequances_of_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8229600" cy="26566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01F4AAC-31B7-BEC1-E3A2-7D0407308D7C}"/>
              </a:ext>
            </a:extLst>
          </p:cNvPr>
          <p:cNvSpPr txBox="1"/>
          <p:nvPr/>
        </p:nvSpPr>
        <p:spPr>
          <a:xfrm>
            <a:off x="1278294" y="4015725"/>
            <a:ext cx="69419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can think of food insecurity as the starting point of a broader chain reaction. Economic stress leads to poorer diet quality, which elevates chronic health risks, which then increases out-of-pocket healthcare costs. These health-related financial burdens feed back into the household budget, making food insecurity worse. It’s a self-reinforcing cycle that requires policy intervention to break.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698</Words>
  <Application>Microsoft Office PowerPoint</Application>
  <PresentationFormat>On-screen Show (4:3)</PresentationFormat>
  <Paragraphs>30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Understanding Food Insecurity in the United States</vt:lpstr>
      <vt:lpstr>US Population Snapshot 2023</vt:lpstr>
      <vt:lpstr>Drivers of Food Insecurity</vt:lpstr>
      <vt:lpstr>Food Insecurity &amp; Health Risks</vt:lpstr>
      <vt:lpstr>Child Food Insecurity</vt:lpstr>
      <vt:lpstr>Poverty &amp; FI Maps</vt:lpstr>
      <vt:lpstr>Poverty vs FI Relationship</vt:lpstr>
      <vt:lpstr>Health Risk Multipliers</vt:lpstr>
      <vt:lpstr>Consequences of Food Insecirity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Farhod Ibragimov</cp:lastModifiedBy>
  <cp:revision>4</cp:revision>
  <dcterms:created xsi:type="dcterms:W3CDTF">2013-01-27T09:14:16Z</dcterms:created>
  <dcterms:modified xsi:type="dcterms:W3CDTF">2025-12-01T04:21:48Z</dcterms:modified>
  <cp:category/>
</cp:coreProperties>
</file>