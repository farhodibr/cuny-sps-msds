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5" r:id="rId3"/>
    <p:sldId id="261" r:id="rId4"/>
    <p:sldId id="257" r:id="rId5"/>
    <p:sldId id="260" r:id="rId6"/>
    <p:sldId id="262" r:id="rId7"/>
    <p:sldId id="263" r:id="rId8"/>
    <p:sldId id="259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A6767-BDAF-4FF7-AC49-30235A53B5C5}" v="2" dt="2025-12-11T06:42:59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0" autoAdjust="0"/>
  </p:normalViewPr>
  <p:slideViewPr>
    <p:cSldViewPr snapToGrid="0" snapToObjects="1">
      <p:cViewPr varScale="1">
        <p:scale>
          <a:sx n="92" d="100"/>
          <a:sy n="92" d="100"/>
        </p:scale>
        <p:origin x="106" y="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od Ibragimov" userId="b8893a9f874a6aa1" providerId="LiveId" clId="{AA08D4EA-AF81-4F9D-AD2E-275987A5AF46}"/>
    <pc:docChg chg="custSel addSld modSld">
      <pc:chgData name="Farhod Ibragimov" userId="b8893a9f874a6aa1" providerId="LiveId" clId="{AA08D4EA-AF81-4F9D-AD2E-275987A5AF46}" dt="2025-12-11T06:45:40.854" v="48" actId="1076"/>
      <pc:docMkLst>
        <pc:docMk/>
      </pc:docMkLst>
      <pc:sldChg chg="addSp delSp mod">
        <pc:chgData name="Farhod Ibragimov" userId="b8893a9f874a6aa1" providerId="LiveId" clId="{AA08D4EA-AF81-4F9D-AD2E-275987A5AF46}" dt="2025-12-11T06:42:38.999" v="1" actId="478"/>
        <pc:sldMkLst>
          <pc:docMk/>
          <pc:sldMk cId="3017047955" sldId="265"/>
        </pc:sldMkLst>
        <pc:picChg chg="add del">
          <ac:chgData name="Farhod Ibragimov" userId="b8893a9f874a6aa1" providerId="LiveId" clId="{AA08D4EA-AF81-4F9D-AD2E-275987A5AF46}" dt="2025-12-11T06:42:38.999" v="1" actId="478"/>
          <ac:picMkLst>
            <pc:docMk/>
            <pc:sldMk cId="3017047955" sldId="265"/>
            <ac:picMk id="5" creationId="{5BB31E3D-75B2-09AA-5960-EFC177C33C7B}"/>
          </ac:picMkLst>
        </pc:picChg>
      </pc:sldChg>
      <pc:sldChg chg="addSp modSp new mod setBg">
        <pc:chgData name="Farhod Ibragimov" userId="b8893a9f874a6aa1" providerId="LiveId" clId="{AA08D4EA-AF81-4F9D-AD2E-275987A5AF46}" dt="2025-12-11T06:45:40.854" v="48" actId="1076"/>
        <pc:sldMkLst>
          <pc:docMk/>
          <pc:sldMk cId="3059352451" sldId="266"/>
        </pc:sldMkLst>
        <pc:spChg chg="mod">
          <ac:chgData name="Farhod Ibragimov" userId="b8893a9f874a6aa1" providerId="LiveId" clId="{AA08D4EA-AF81-4F9D-AD2E-275987A5AF46}" dt="2025-12-11T06:45:25.066" v="46" actId="1076"/>
          <ac:spMkLst>
            <pc:docMk/>
            <pc:sldMk cId="3059352451" sldId="266"/>
            <ac:spMk id="2" creationId="{A87DFD9F-BBF9-F60F-AF5A-A3A37E1A9EF1}"/>
          </ac:spMkLst>
        </pc:spChg>
        <pc:spChg chg="mod">
          <ac:chgData name="Farhod Ibragimov" userId="b8893a9f874a6aa1" providerId="LiveId" clId="{AA08D4EA-AF81-4F9D-AD2E-275987A5AF46}" dt="2025-12-11T06:45:40.854" v="48" actId="1076"/>
          <ac:spMkLst>
            <pc:docMk/>
            <pc:sldMk cId="3059352451" sldId="266"/>
            <ac:spMk id="3" creationId="{ACF3CD38-1CA0-502D-34BA-A16A3BA8EB7E}"/>
          </ac:spMkLst>
        </pc:spChg>
        <pc:grpChg chg="add">
          <ac:chgData name="Farhod Ibragimov" userId="b8893a9f874a6aa1" providerId="LiveId" clId="{AA08D4EA-AF81-4F9D-AD2E-275987A5AF46}" dt="2025-12-11T06:43:28.797" v="4" actId="26606"/>
          <ac:grpSpMkLst>
            <pc:docMk/>
            <pc:sldMk cId="3059352451" sldId="266"/>
            <ac:grpSpMk id="9" creationId="{6E61B563-A4B2-5783-81AF-A2A053D74769}"/>
          </ac:grpSpMkLst>
        </pc:grpChg>
        <pc:picChg chg="add mod modCrop">
          <ac:chgData name="Farhod Ibragimov" userId="b8893a9f874a6aa1" providerId="LiveId" clId="{AA08D4EA-AF81-4F9D-AD2E-275987A5AF46}" dt="2025-12-11T06:45:29.886" v="47" actId="1076"/>
          <ac:picMkLst>
            <pc:docMk/>
            <pc:sldMk cId="3059352451" sldId="266"/>
            <ac:picMk id="4" creationId="{F53E3F71-DF03-DD0B-9E26-96D2846E0B2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9144000" cy="1519356"/>
            <a:chOff x="0" y="-29768"/>
            <a:chExt cx="12202174" cy="15193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87DFD9F-BBF9-F60F-AF5A-A3A37E1A9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579" y="5817720"/>
            <a:ext cx="5193019" cy="913975"/>
          </a:xfrm>
        </p:spPr>
        <p:txBody>
          <a:bodyPr anchor="ctr">
            <a:normAutofit/>
          </a:bodyPr>
          <a:lstStyle/>
          <a:p>
            <a:pPr algn="l"/>
            <a:r>
              <a:rPr lang="en-US" sz="2800" dirty="0">
                <a:solidFill>
                  <a:srgbClr val="FFFFFF"/>
                </a:solidFill>
              </a:rPr>
              <a:t>Farhod Ibragimov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3CD38-1CA0-502D-34BA-A16A3BA8E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591011" y="5421250"/>
            <a:ext cx="2665106" cy="934080"/>
          </a:xfrm>
        </p:spPr>
        <p:txBody>
          <a:bodyPr anchor="ctr">
            <a:normAutofit/>
          </a:bodyPr>
          <a:lstStyle/>
          <a:p>
            <a:pPr algn="r"/>
            <a:r>
              <a:rPr lang="en-US" sz="1600" dirty="0">
                <a:solidFill>
                  <a:srgbClr val="FFFFFF"/>
                </a:solidFill>
              </a:rPr>
              <a:t>DATA 608 Project7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3E3F71-DF03-DD0B-9E26-96D2846E0B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51" r="3901" b="5872"/>
          <a:stretch>
            <a:fillRect/>
          </a:stretch>
        </p:blipFill>
        <p:spPr>
          <a:xfrm>
            <a:off x="-1" y="-6115"/>
            <a:ext cx="9143979" cy="535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5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8BF624-7795-8388-AED9-E576689C1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53" y="832019"/>
            <a:ext cx="7913294" cy="328602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9780788-C228-A04B-94BA-73F199767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53" y="4225576"/>
            <a:ext cx="832048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slide focuses on the GDP weight behind each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Electronics is a $448B sector - high reliance means high economic risk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Energy storage has the highest reliance (75%), which basically confirms that EV supply chains are vulnerable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Industrial metals are in the middle, but still meaningful because they support manufacturing overall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7047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s_critical_minerals_trade_alignment_t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" y="279813"/>
            <a:ext cx="9136745" cy="565785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06FFC4F-8707-C487-6113-113764620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962" y="5391536"/>
            <a:ext cx="786221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 the geopolitical angle: not all suppliers are equal.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 a lot of critical minerals come from neutral or competitor countries.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slide makes it obvious that the supply chain is not aligned with U.S. strategic interests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port_reliance_barplot_fl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5" y="133312"/>
            <a:ext cx="6313220" cy="5697416"/>
          </a:xfrm>
          <a:prstGeom prst="rect">
            <a:avLst/>
          </a:prstGeom>
        </p:spPr>
      </p:pic>
      <p:pic>
        <p:nvPicPr>
          <p:cNvPr id="5" name="Picture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63135A7B-8A8B-4243-4118-3EEA699570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589" r="27639"/>
          <a:stretch>
            <a:fillRect/>
          </a:stretch>
        </p:blipFill>
        <p:spPr>
          <a:xfrm>
            <a:off x="6768876" y="595023"/>
            <a:ext cx="2167305" cy="5512777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84316672-F25A-C595-0043-B328AF873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19" y="5746988"/>
            <a:ext cx="984247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Here’s the mineral-by-mineral breakdown.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of the top dependency </a:t>
            </a: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minerals are 75–100% imported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matters is not just the percentage but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U.S. depends on - </a:t>
            </a: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China dominates a lot of these bars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some minerals (palladium, chromium, cobalt), we rely on countries with either unstable production or geopolitical tension.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orld_dom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" y="397823"/>
            <a:ext cx="9134614" cy="454276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531FAF2-799B-4B94-3621-20C292597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18" y="5326451"/>
            <a:ext cx="836156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chart answers the question: “Who controls global production?”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China is in its own league - dominating 17 minerals and nearly 70% average global share.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few countries like South Africa, Congo, Brazil also show strong dominance in specific minerals.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matters because even if the U.S. doesn’t directly import from these countries,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global price and supply chain are influenced by them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s_critical_minerals_sankey_policy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13" y="200464"/>
            <a:ext cx="8717573" cy="507931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17E291A-D78B-DD78-15E1-A048EDD36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626" y="5302905"/>
            <a:ext cx="778402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Sankey chart visualizes upstream → midstream → downstream flow.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Industrial metals and battery metals dominate both volume and strategic importance.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You can see how a few countries feed almost every downstream sector.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key point: a disruption at the supplier level cascades into manufacturing, chemicals, and electronics quickly.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5393FFE-7C73-9D0A-D2A7-2B55BFB4C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91" y="91995"/>
            <a:ext cx="7372662" cy="562099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4A43F11-152E-19B8-1248-020BCB44E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22" y="5882266"/>
            <a:ext cx="865897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heatmap connects specific minerals to industries.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 can immediately see where "single points of failure" exist — for example, cobalt and lithium lighting up energy storage.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Electronics heavily depends on gallium, indium, germanium — all almost fully imported.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more red an industry is, the fewer domestic options it really has.</a:t>
            </a:r>
          </a:p>
        </p:txBody>
      </p:sp>
    </p:spTree>
    <p:extLst>
      <p:ext uri="{BB962C8B-B14F-4D97-AF65-F5344CB8AC3E}">
        <p14:creationId xmlns:p14="http://schemas.microsoft.com/office/powerpoint/2010/main" val="3842502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dustries_dependency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46138"/>
            <a:ext cx="8229600" cy="36125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121A81-796F-67A1-4CF5-5B2E0A72F117}"/>
              </a:ext>
            </a:extLst>
          </p:cNvPr>
          <p:cNvSpPr txBox="1"/>
          <p:nvPr/>
        </p:nvSpPr>
        <p:spPr>
          <a:xfrm>
            <a:off x="1769424" y="5456712"/>
            <a:ext cx="551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D8A86AE-CD9C-6EC2-934E-3CA5C9014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012" y="5056602"/>
            <a:ext cx="747397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Instead of thinking only in minerals, here’s the industry translation.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i="1" dirty="0">
                <a:latin typeface="+mj-lt"/>
              </a:rPr>
              <a:t>I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ndustrial metals</a:t>
            </a:r>
            <a:r>
              <a:rPr lang="en-US" altLang="en-US" sz="1400" i="1" dirty="0">
                <a:latin typeface="+mj-lt"/>
              </a:rPr>
              <a:t>, Energy storage and Electronics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are the most exposed.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supply is disrupted, these sectors would feel it first — anything from EV production delays to higher semiconductor prices.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Nuclear is the only sector that looks insulated here (pretty rare to see a clean zero).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number&#10;&#10;AI-generated content may be incorrect.">
            <a:extLst>
              <a:ext uri="{FF2B5EF4-FFF2-40B4-BE49-F238E27FC236}">
                <a16:creationId xmlns:a16="http://schemas.microsoft.com/office/drawing/2014/main" id="{70271B95-BF40-25AD-1951-808B1593D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16" y="562053"/>
            <a:ext cx="8823365" cy="364978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25D737D-56FB-6B63-A642-3F9448294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34" y="3996390"/>
            <a:ext cx="8606594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So the picture is pretty simple: </a:t>
            </a:r>
            <a:r>
              <a:rPr lang="en-US" sz="1400" b="1" dirty="0"/>
              <a:t>$1.9T in exposed value, 67% average import reliance, and 20+ minerals where we’re wide open.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And most of that exposure runs through countries that aren’t exactly aligned with U.S. interests. That’s the real concern - the leverage it creates.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Solving this isn’t about replacing every import. It’s about: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/>
              <a:t>Reduce single-country dominance – or at least build more stable trade relations when we can (especially with China)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/>
              <a:t>Building U.S. capacity where it actually pays off.</a:t>
            </a:r>
            <a:endParaRPr lang="en-US" sz="14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/>
              <a:t>Leaning more on trusted partners.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We won’t eliminate dependency, but we </a:t>
            </a:r>
            <a:r>
              <a:rPr lang="en-US" sz="1400" i="1" dirty="0"/>
              <a:t>can</a:t>
            </a:r>
            <a:r>
              <a:rPr lang="en-US" sz="1400" dirty="0"/>
              <a:t> reshape it - so strategic competitors have less control over critical U.S. industries.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505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561</Words>
  <Application>Microsoft Office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Farhod Ibragimov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Farhod Ibragimov</cp:lastModifiedBy>
  <cp:revision>3</cp:revision>
  <dcterms:created xsi:type="dcterms:W3CDTF">2013-01-27T09:14:16Z</dcterms:created>
  <dcterms:modified xsi:type="dcterms:W3CDTF">2025-12-11T06:45:41Z</dcterms:modified>
  <cp:category/>
</cp:coreProperties>
</file>